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6" r:id="rId5"/>
    <p:sldMasterId id="2147483707" r:id="rId6"/>
    <p:sldMasterId id="214748370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Arial Black"/>
      <p:regular r:id="rId34"/>
    </p:embeddedFont>
    <p:embeddedFont>
      <p:font typeface="Century Gothic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2B55EA-C49A-4466-A184-5306AC2931DC}">
  <a:tblStyle styleId="{A92B55EA-C49A-4466-A184-5306AC2931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font" Target="fonts/NunitoSemiBold-regular.fntdata"/><Relationship Id="rId21" Type="http://schemas.openxmlformats.org/officeDocument/2006/relationships/font" Target="fonts/NunitoSemiBold-bold.fntdata"/><Relationship Id="rId22" Type="http://schemas.openxmlformats.org/officeDocument/2006/relationships/font" Target="fonts/NunitoSemiBold-italic.fntdata"/><Relationship Id="rId23" Type="http://schemas.openxmlformats.org/officeDocument/2006/relationships/font" Target="fonts/NunitoSemiBold-boldItalic.fntdata"/><Relationship Id="rId24" Type="http://schemas.openxmlformats.org/officeDocument/2006/relationships/font" Target="fonts/Nunito-regular.fntdata"/><Relationship Id="rId25" Type="http://schemas.openxmlformats.org/officeDocument/2006/relationships/font" Target="fonts/Nunito-bold.fntdata"/><Relationship Id="rId26" Type="http://schemas.openxmlformats.org/officeDocument/2006/relationships/font" Target="fonts/Nunito-italic.fntdata"/><Relationship Id="rId27" Type="http://schemas.openxmlformats.org/officeDocument/2006/relationships/font" Target="fonts/Nunito-boldItalic.fntdata"/><Relationship Id="rId28" Type="http://schemas.openxmlformats.org/officeDocument/2006/relationships/font" Target="fonts/Montserrat-regular.fntdata"/><Relationship Id="rId29" Type="http://schemas.openxmlformats.org/officeDocument/2006/relationships/font" Target="fonts/Montserrat-bold.fntdata"/><Relationship Id="rId30" Type="http://schemas.openxmlformats.org/officeDocument/2006/relationships/font" Target="fonts/Montserrat-italic.fntdata"/><Relationship Id="rId31" Type="http://schemas.openxmlformats.org/officeDocument/2006/relationships/font" Target="fonts/Montserrat-boldItalic.fntdata"/><Relationship Id="rId32" Type="http://schemas.openxmlformats.org/officeDocument/2006/relationships/font" Target="fonts/NunitoExtraBold-bold.fntdata"/><Relationship Id="rId33" Type="http://schemas.openxmlformats.org/officeDocument/2006/relationships/font" Target="fonts/NunitoExtraBold-boldItalic.fntdata"/><Relationship Id="rId34" Type="http://schemas.openxmlformats.org/officeDocument/2006/relationships/font" Target="fonts/ArialBlack-regular.fntdata"/><Relationship Id="rId35" Type="http://schemas.openxmlformats.org/officeDocument/2006/relationships/font" Target="fonts/CenturyGothic-regular.fntdata"/><Relationship Id="rId36" Type="http://schemas.openxmlformats.org/officeDocument/2006/relationships/font" Target="fonts/CenturyGothic-bold.fntdata"/><Relationship Id="rId37" Type="http://schemas.openxmlformats.org/officeDocument/2006/relationships/font" Target="fonts/CenturyGothic-italic.fntdata"/><Relationship Id="rId38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ce6d25449_0_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dce6d25449_0_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ce6d2544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ce6d2544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e31972bd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de31972bd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e31972bd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de31972bd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Strengthen the deterministic policy gate + final override to improve compliance and predictability.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e393f4b4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e393f4b4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e393f4b4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e393f4b4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e393f4b4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e393f4b4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e393f4b4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de393f4b4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e393f4b43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de393f4b43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e393f4b4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de393f4b4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e393f4b43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de393f4b43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de393f4b43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de393f4b43_0_16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OBJECT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95824" y="126288"/>
            <a:ext cx="63786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2400">
                <a:solidFill>
                  <a:srgbClr val="0D38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2491651" y="4671998"/>
            <a:ext cx="41613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OBJECT_3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75574" y="351128"/>
            <a:ext cx="6921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200">
                <a:solidFill>
                  <a:srgbClr val="43434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915998" y="4976665"/>
            <a:ext cx="21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OBJECT_3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1280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OBJECT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72024" y="172908"/>
            <a:ext cx="6288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2400">
                <a:solidFill>
                  <a:srgbClr val="0D37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2">
  <p:cSld name="Title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384725" y="189911"/>
            <a:ext cx="83745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2200">
                <a:solidFill>
                  <a:srgbClr val="0D38A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1" type="ftr"/>
          </p:nvPr>
        </p:nvSpPr>
        <p:spPr>
          <a:xfrm>
            <a:off x="2424266" y="4986147"/>
            <a:ext cx="4311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OBJECT_4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275574" y="351128"/>
            <a:ext cx="6921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200">
                <a:solidFill>
                  <a:srgbClr val="43434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915998" y="4976665"/>
            <a:ext cx="21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4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6" name="Google Shape;76;p16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{A92B55EA-C49A-4466-A184-5306AC2931DC}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86" name="Google Shape;86;p18"/>
          <p:cNvPicPr preferRelativeResize="0"/>
          <p:nvPr/>
        </p:nvPicPr>
        <p:blipFill rotWithShape="1">
          <a:blip r:embed="rId2">
            <a:alphaModFix/>
          </a:blip>
          <a:srcRect b="19148" l="42814" r="37292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3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202550" y="33084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1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202550" y="903537"/>
            <a:ext cx="8629800" cy="29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 sz="13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3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4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">
  <p:cSld name="OBJECT_3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">
  <p:cSld name="OBJECT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title"/>
          </p:nvPr>
        </p:nvSpPr>
        <p:spPr>
          <a:xfrm>
            <a:off x="372024" y="172908"/>
            <a:ext cx="6288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2400">
                <a:solidFill>
                  <a:srgbClr val="0D37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7" name="Google Shape;137;p28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3" name="Google Shape;143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{A92B55EA-C49A-4466-A184-5306AC2931DC}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8" name="Google Shape;148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5" name="Google Shape;155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9" name="Google Shape;159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0" name="Google Shape;160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66" name="Google Shape;166;p36"/>
          <p:cNvPicPr preferRelativeResize="0"/>
          <p:nvPr/>
        </p:nvPicPr>
        <p:blipFill rotWithShape="1">
          <a:blip r:embed="rId2">
            <a:alphaModFix/>
          </a:blip>
          <a:srcRect b="19148" l="42815" r="37295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3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69" name="Google Shape;1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172" name="Google Shape;172;p37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73" name="Google Shape;173;p37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37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37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38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38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2" name="Google Shape;182;p39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83" name="Google Shape;183;p39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3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3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8" name="Google Shape;188;p40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9" name="Google Shape;189;p4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40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1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3" name="Google Shape;193;p41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41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8" name="Google Shape;198;p42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4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42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03" name="Google Shape;203;p43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204" name="Google Shape;204;p43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4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43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09" name="Google Shape;209;p4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4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44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4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45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6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18" name="Google Shape;218;p46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219" name="Google Shape;219;p46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220" name="Google Shape;220;p4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4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46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25" name="Google Shape;225;p47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47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47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4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43" name="Google Shape;243;p52"/>
          <p:cNvPicPr preferRelativeResize="0"/>
          <p:nvPr/>
        </p:nvPicPr>
        <p:blipFill rotWithShape="1">
          <a:blip r:embed="rId2">
            <a:alphaModFix/>
          </a:blip>
          <a:srcRect b="19148" l="42815" r="37295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5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246" name="Google Shape;24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3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49" name="Google Shape;249;p53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52" name="Google Shape;252;p5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55" name="Google Shape;255;p5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56" name="Google Shape;256;p5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59" name="Google Shape;259;p56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{A92B55EA-C49A-4466-A184-5306AC2931DC}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60" name="Google Shape;260;p5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63" name="Google Shape;263;p5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5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5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68" name="Google Shape;268;p5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1" name="Google Shape;271;p5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5" name="Google Shape;275;p6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6" name="Google Shape;276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277" name="Google Shape;277;p6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48.xml"/><Relationship Id="rId2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3"/>
            <a:ext cx="1395475" cy="572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5" name="Google Shape;125;p2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" name="Google Shape;126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2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9" name="Google Shape;129;p2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234" name="Google Shape;234;p5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35" name="Google Shape;235;p5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5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" name="Google Shape;237;p5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5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239" name="Google Shape;239;p5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5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2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GlobalEdge Brokerage</a:t>
            </a:r>
          </a:p>
        </p:txBody>
      </p:sp>
      <p:sp>
        <p:nvSpPr>
          <p:cNvPr id="285" name="Google Shape;285;p62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UT Austin / Great Learning | Project 2</a:t>
            </a:r>
          </a:p>
        </p:txBody>
      </p:sp>
      <p:sp>
        <p:nvSpPr>
          <p:cNvPr id="286" name="Google Shape;286;p62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Pre-run draft • [PENDING LIVE RUN]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3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Contents / Agenda</a:t>
            </a:r>
            <a:endParaRPr b="1" sz="22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2" name="Google Shape;292;p63"/>
          <p:cNvSpPr txBox="1"/>
          <p:nvPr/>
        </p:nvSpPr>
        <p:spPr>
          <a:xfrm>
            <a:off x="589275" y="946950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Executive Summary | Business Problem Overview | Data Preparation | RAG QA | RAG Evaluation | Tuned RAG | Human Audit [PENDING]</a:t>
            </a:r>
          </a:p>
        </p:txBody>
      </p:sp>
      <p:sp>
        <p:nvSpPr>
          <p:cNvPr id="293" name="Google Shape;293;p63"/>
          <p:cNvSpPr/>
          <p:nvPr/>
        </p:nvSpPr>
        <p:spPr>
          <a:xfrm>
            <a:off x="311321" y="1018535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63"/>
          <p:cNvSpPr/>
          <p:nvPr/>
        </p:nvSpPr>
        <p:spPr>
          <a:xfrm>
            <a:off x="311321" y="1489840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63"/>
          <p:cNvSpPr/>
          <p:nvPr/>
        </p:nvSpPr>
        <p:spPr>
          <a:xfrm>
            <a:off x="311321" y="1884945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63"/>
          <p:cNvSpPr/>
          <p:nvPr/>
        </p:nvSpPr>
        <p:spPr>
          <a:xfrm>
            <a:off x="311321" y="232454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63"/>
          <p:cNvSpPr/>
          <p:nvPr/>
        </p:nvSpPr>
        <p:spPr>
          <a:xfrm>
            <a:off x="311327" y="2735902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63"/>
          <p:cNvSpPr/>
          <p:nvPr/>
        </p:nvSpPr>
        <p:spPr>
          <a:xfrm>
            <a:off x="311327" y="3171238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Executive Summary</a:t>
            </a:r>
          </a:p>
        </p:txBody>
      </p:sp>
      <p:sp>
        <p:nvSpPr>
          <p:cNvPr id="304" name="Google Shape;304;p64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5" name="Google Shape;305;p64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Historical-only financial research support for GlobalEdge Brokerage. Use source-aware retrieval and explicit abstentions when evidence is missing or current-only claims are requested. [PENDING LIVE RUN]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Business Problem Overview and Solution Approach</a:t>
            </a:r>
          </a:p>
        </p:txBody>
      </p:sp>
      <p:sp>
        <p:nvSpPr>
          <p:cNvPr id="311" name="Google Shape;311;p65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65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Need fast, auditable financial research grounded in historical news, SEC filings, and price data; refuse unsupported live quotes or fabricated filing coverage.</a:t>
            </a:r>
          </a:p>
        </p:txBody>
      </p:sp>
      <p:sp>
        <p:nvSpPr>
          <p:cNvPr id="313" name="Google Shape;313;p65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65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Source-aware RAG with Chroma, chunk-size experiments, DeepEval scoring, and GEPA prompt tuning; live model execution remains pending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Data Preparation for RAG</a:t>
            </a:r>
          </a:p>
        </p:txBody>
      </p:sp>
      <p:sp>
        <p:nvSpPr>
          <p:cNvPr id="320" name="Google Shape;320;p66"/>
          <p:cNvSpPr/>
          <p:nvPr/>
        </p:nvSpPr>
        <p:spPr>
          <a:xfrm>
            <a:off x="403421" y="1682253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1" name="Google Shape;321;p66"/>
          <p:cNvSpPr txBox="1"/>
          <p:nvPr/>
        </p:nvSpPr>
        <p:spPr>
          <a:xfrm>
            <a:off x="690738" y="1248231"/>
            <a:ext cx="8107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global_news.csv • stock_price_details.csv • sec_filings_10k.txt • golden_benchmark_dataset.csv | Microsoft FY2024 10-K only | benchmark excluded from retrieval</a:t>
            </a:r>
          </a:p>
        </p:txBody>
      </p:sp>
      <p:sp>
        <p:nvSpPr>
          <p:cNvPr id="322" name="Google Shape;322;p66"/>
          <p:cNvSpPr/>
          <p:nvPr/>
        </p:nvSpPr>
        <p:spPr>
          <a:xfrm>
            <a:off x="403421" y="1362713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3" name="Google Shape;323;p66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p66"/>
          <p:cNvSpPr/>
          <p:nvPr/>
        </p:nvSpPr>
        <p:spPr>
          <a:xfrm>
            <a:off x="403421" y="2001803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p66"/>
          <p:cNvSpPr/>
          <p:nvPr/>
        </p:nvSpPr>
        <p:spPr>
          <a:xfrm>
            <a:off x="403421" y="230772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p66"/>
          <p:cNvSpPr/>
          <p:nvPr/>
        </p:nvSpPr>
        <p:spPr>
          <a:xfrm>
            <a:off x="403421" y="262727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7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Question Answering with RAG</a:t>
            </a:r>
          </a:p>
        </p:txBody>
      </p:sp>
      <p:sp>
        <p:nvSpPr>
          <p:cNvPr id="332" name="Google Shape;332;p67"/>
          <p:cNvSpPr/>
          <p:nvPr/>
        </p:nvSpPr>
        <p:spPr>
          <a:xfrm>
            <a:off x="403421" y="16629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p67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67"/>
          <p:cNvSpPr txBox="1"/>
          <p:nvPr/>
        </p:nvSpPr>
        <p:spPr>
          <a:xfrm>
            <a:off x="692550" y="1246000"/>
            <a:ext cx="7385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Baseline: gpt-4o-mini, temp=0, top_p=1.0, k=5, chunk 1200/200, source-aware filters plus semantic comparator. [PENDING LIVE RUN]</a:t>
            </a:r>
          </a:p>
        </p:txBody>
      </p:sp>
      <p:sp>
        <p:nvSpPr>
          <p:cNvPr id="335" name="Google Shape;335;p67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67"/>
          <p:cNvSpPr/>
          <p:nvPr/>
        </p:nvSpPr>
        <p:spPr>
          <a:xfrm>
            <a:off x="403421" y="198404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67"/>
          <p:cNvSpPr/>
          <p:nvPr/>
        </p:nvSpPr>
        <p:spPr>
          <a:xfrm>
            <a:off x="403421" y="261417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67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8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Evaluating RAG</a:t>
            </a:r>
          </a:p>
        </p:txBody>
      </p:sp>
      <p:sp>
        <p:nvSpPr>
          <p:cNvPr id="344" name="Google Shape;344;p68"/>
          <p:cNvSpPr/>
          <p:nvPr/>
        </p:nvSpPr>
        <p:spPr>
          <a:xfrm>
            <a:off x="403421" y="16629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p68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68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7" name="Google Shape;347;p68"/>
          <p:cNvSpPr txBox="1"/>
          <p:nvPr/>
        </p:nvSpPr>
        <p:spPr>
          <a:xfrm>
            <a:off x="692550" y="1246000"/>
            <a:ext cx="7385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Evaluation LLM: gpt-4o | DeepEval thresholds: Faithfulness &gt;= 0.85, Relevance &gt;= 0.75, Completeness &gt;= 0.70 | Held-out set remains pending.</a:t>
            </a:r>
          </a:p>
        </p:txBody>
      </p:sp>
      <p:sp>
        <p:nvSpPr>
          <p:cNvPr id="348" name="Google Shape;348;p68"/>
          <p:cNvSpPr/>
          <p:nvPr/>
        </p:nvSpPr>
        <p:spPr>
          <a:xfrm>
            <a:off x="403421" y="198404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9" name="Google Shape;349;p68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9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Question Answering with Tuned RAG</a:t>
            </a:r>
          </a:p>
        </p:txBody>
      </p:sp>
      <p:sp>
        <p:nvSpPr>
          <p:cNvPr id="355" name="Google Shape;355;p69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69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69"/>
          <p:cNvSpPr txBox="1"/>
          <p:nvPr/>
        </p:nvSpPr>
        <p:spPr>
          <a:xfrm>
            <a:off x="692550" y="1246000"/>
            <a:ext cx="7385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Three real RAG alternatives: Precision 600/100 k=3; Balanced 1200/200 k=5; Context-heavy 2000/300 k=8; GEPA 5 iterations, seed 42, Pareto size 3. [PENDING LIVE RUN]</a:t>
            </a:r>
          </a:p>
        </p:txBody>
      </p:sp>
      <p:sp>
        <p:nvSpPr>
          <p:cNvPr id="358" name="Google Shape;358;p69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69"/>
          <p:cNvSpPr/>
          <p:nvPr/>
        </p:nvSpPr>
        <p:spPr>
          <a:xfrm>
            <a:off x="403421" y="262614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69"/>
          <p:cNvSpPr/>
          <p:nvPr/>
        </p:nvSpPr>
        <p:spPr>
          <a:xfrm>
            <a:off x="403421" y="29471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0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0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APPENDIX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Decision and Tradeoff Table</a:t>
            </a:r>
          </a:p>
        </p:txBody>
      </p:sp>
      <p:sp>
        <p:nvSpPr>
          <p:cNvPr id="372" name="Google Shape;372;p71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3" name="Google Shape;373;p71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Approved design choices: low-code notebook, local Chroma, source-aware retrieval, no paid calls in this pass. Pending live results must be filled only after user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81" name="Google Shape;381;p7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t>Historical dataset only • offline validation passed • live run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