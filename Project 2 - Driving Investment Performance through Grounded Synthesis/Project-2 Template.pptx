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6" r:id="rId5"/>
    <p:sldMasterId id="2147483707" r:id="rId6"/>
    <p:sldMasterId id="214748370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Arial Black"/>
      <p:regular r:id="rId34"/>
    </p:embeddedFon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2B55EA-C49A-4466-A184-5306AC2931DC}">
  <a:tblStyle styleId="{A92B55EA-C49A-4466-A184-5306AC2931D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3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2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5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4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7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6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ce6d25449_0_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dce6d25449_0_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e6d2544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ce6d2544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e31972bd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de31972bd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e31972bd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de31972bd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Strengthen the deterministic policy gate + final override to improve compliance and predictability.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e393f4b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e393f4b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e393f4b4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e393f4b4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e393f4b4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e393f4b4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e393f4b4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e393f4b4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e393f4b43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de393f4b43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e393f4b4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de393f4b4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e393f4b43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de393f4b43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de393f4b43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de393f4b43_0_16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OBJEC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95824" y="126288"/>
            <a:ext cx="63786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400">
                <a:solidFill>
                  <a:srgbClr val="0D38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2491651" y="4671998"/>
            <a:ext cx="4161300" cy="1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OBJECT_3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75574" y="351128"/>
            <a:ext cx="6921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200">
                <a:solidFill>
                  <a:srgbClr val="43434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915998" y="4976665"/>
            <a:ext cx="21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3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1280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372024" y="172908"/>
            <a:ext cx="6288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400">
                <a:solidFill>
                  <a:srgbClr val="0D37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2">
  <p:cSld name="Title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type="title"/>
          </p:nvPr>
        </p:nvSpPr>
        <p:spPr>
          <a:xfrm>
            <a:off x="384725" y="189911"/>
            <a:ext cx="8374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200">
                <a:solidFill>
                  <a:srgbClr val="0D38A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1" type="ftr"/>
          </p:nvPr>
        </p:nvSpPr>
        <p:spPr>
          <a:xfrm>
            <a:off x="2424266" y="4986147"/>
            <a:ext cx="4311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OBJECT_4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275574" y="351128"/>
            <a:ext cx="69216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200">
                <a:solidFill>
                  <a:srgbClr val="434343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8915998" y="4976665"/>
            <a:ext cx="210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 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6" name="Google Shape;76;p1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{A92B55EA-C49A-4466-A184-5306AC2931DC}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86" name="Google Shape;86;p18"/>
          <p:cNvPicPr preferRelativeResize="0"/>
          <p:nvPr/>
        </p:nvPicPr>
        <p:blipFill rotWithShape="1">
          <a:blip r:embed="rId2">
            <a:alphaModFix/>
          </a:blip>
          <a:srcRect b="19148" l="42814" r="37292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3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202550" y="33084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1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202550" y="903537"/>
            <a:ext cx="8629800" cy="29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 sz="13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4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">
  <p:cSld name="OBJECT_3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4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OBJECT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type="title"/>
          </p:nvPr>
        </p:nvSpPr>
        <p:spPr>
          <a:xfrm>
            <a:off x="372024" y="172908"/>
            <a:ext cx="6288300" cy="3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2400">
                <a:solidFill>
                  <a:srgbClr val="0D37A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2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4" name="Google Shape;134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7" name="Google Shape;137;p28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40" name="Google Shape;140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3" name="Google Shape;143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{A92B55EA-C49A-4466-A184-5306AC2931DC}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4" name="Google Shape;144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8" name="Google Shape;148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9" name="Google Shape;149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5" name="Google Shape;155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9" name="Google Shape;159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0" name="Google Shape;160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61" name="Google Shape;161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66" name="Google Shape;166;p36"/>
          <p:cNvPicPr preferRelativeResize="0"/>
          <p:nvPr/>
        </p:nvPicPr>
        <p:blipFill rotWithShape="1">
          <a:blip r:embed="rId2">
            <a:alphaModFix/>
          </a:blip>
          <a:srcRect b="19148" l="42815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69" name="Google Shape;16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172" name="Google Shape;172;p37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3" name="Google Shape;173;p37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37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37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38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38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2" name="Google Shape;182;p39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83" name="Google Shape;183;p39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3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88" name="Google Shape;188;p40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4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3" name="Google Shape;193;p41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5" name="Google Shape;195;p41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2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8" name="Google Shape;198;p42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4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42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3" name="Google Shape;203;p43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204" name="Google Shape;204;p43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4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43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09" name="Google Shape;209;p4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4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44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4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45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6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18" name="Google Shape;218;p46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219" name="Google Shape;219;p46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220" name="Google Shape;220;p4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1" name="Google Shape;221;p4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46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25" name="Google Shape;225;p47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6" name="Google Shape;226;p47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47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4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43" name="Google Shape;243;p52"/>
          <p:cNvPicPr preferRelativeResize="0"/>
          <p:nvPr/>
        </p:nvPicPr>
        <p:blipFill rotWithShape="1">
          <a:blip r:embed="rId2">
            <a:alphaModFix/>
          </a:blip>
          <a:srcRect b="19148" l="42815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5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246" name="Google Shape;24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3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49" name="Google Shape;249;p53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52" name="Google Shape;252;p5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55" name="Google Shape;255;p5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56" name="Google Shape;256;p5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59" name="Google Shape;259;p5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{A92B55EA-C49A-4466-A184-5306AC2931DC}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60" name="Google Shape;260;p5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63" name="Google Shape;263;p5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5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5" name="Google Shape;265;p5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68" name="Google Shape;268;p5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1" name="Google Shape;271;p5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6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5" name="Google Shape;275;p6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6" name="Google Shape;276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277" name="Google Shape;277;p6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6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48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3"/>
            <a:ext cx="1395475" cy="5727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5" name="Google Shape;125;p26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p2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" name="Google Shape;127;p2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26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9" name="Google Shape;129;p26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6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234" name="Google Shape;234;p5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35" name="Google Shape;235;p5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5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p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" name="Google Shape;238;p5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239" name="Google Shape;239;p5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5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2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5" name="Google Shape;285;p62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6" name="Google Shape;286;p62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3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Contents / Agenda</a:t>
            </a:r>
            <a:endParaRPr b="1" sz="22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2" name="Google Shape;292;p63"/>
          <p:cNvSpPr txBox="1"/>
          <p:nvPr/>
        </p:nvSpPr>
        <p:spPr>
          <a:xfrm>
            <a:off x="589275" y="946950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Business Problem Overview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Data Preparation for RAG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Question Answering with RAG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Evaluating RAG	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Question Answering with Tuned RAG	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63"/>
          <p:cNvSpPr/>
          <p:nvPr/>
        </p:nvSpPr>
        <p:spPr>
          <a:xfrm>
            <a:off x="311321" y="1018535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4" name="Google Shape;294;p63"/>
          <p:cNvSpPr/>
          <p:nvPr/>
        </p:nvSpPr>
        <p:spPr>
          <a:xfrm>
            <a:off x="311321" y="1489840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63"/>
          <p:cNvSpPr/>
          <p:nvPr/>
        </p:nvSpPr>
        <p:spPr>
          <a:xfrm>
            <a:off x="311321" y="1884945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6" name="Google Shape;296;p63"/>
          <p:cNvSpPr/>
          <p:nvPr/>
        </p:nvSpPr>
        <p:spPr>
          <a:xfrm>
            <a:off x="311321" y="232454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63"/>
          <p:cNvSpPr/>
          <p:nvPr/>
        </p:nvSpPr>
        <p:spPr>
          <a:xfrm>
            <a:off x="311327" y="2735902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63"/>
          <p:cNvSpPr/>
          <p:nvPr/>
        </p:nvSpPr>
        <p:spPr>
          <a:xfrm>
            <a:off x="311327" y="3171238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304" name="Google Shape;304;p64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5" name="Google Shape;305;p64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conclusions and business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Business Problem Overview and Solution Approach</a:t>
            </a:r>
            <a:endParaRPr b="1" sz="24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1" name="Google Shape;311;p65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2" name="Google Shape;312;p65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65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4" name="Google Shape;314;p65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Data Preparation for RAG</a:t>
            </a:r>
            <a:endParaRPr b="1" sz="24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p66"/>
          <p:cNvSpPr/>
          <p:nvPr/>
        </p:nvSpPr>
        <p:spPr>
          <a:xfrm>
            <a:off x="403421" y="168225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p66"/>
          <p:cNvSpPr txBox="1"/>
          <p:nvPr/>
        </p:nvSpPr>
        <p:spPr>
          <a:xfrm>
            <a:off x="690738" y="1248231"/>
            <a:ext cx="8107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Load all the provided datasets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Choose the text splitting mechanism and parameters with proper rationale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Choose the embedding model with proper rationale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Set up a vector database / vector store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observations / comments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66"/>
          <p:cNvSpPr/>
          <p:nvPr/>
        </p:nvSpPr>
        <p:spPr>
          <a:xfrm>
            <a:off x="403421" y="136271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p66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66"/>
          <p:cNvSpPr/>
          <p:nvPr/>
        </p:nvSpPr>
        <p:spPr>
          <a:xfrm>
            <a:off x="403421" y="2001803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p66"/>
          <p:cNvSpPr/>
          <p:nvPr/>
        </p:nvSpPr>
        <p:spPr>
          <a:xfrm>
            <a:off x="403421" y="230772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p66"/>
          <p:cNvSpPr/>
          <p:nvPr/>
        </p:nvSpPr>
        <p:spPr>
          <a:xfrm>
            <a:off x="403421" y="262727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Question Answering with RAG</a:t>
            </a:r>
            <a:endParaRPr b="1" sz="24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p67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p67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p67"/>
          <p:cNvSpPr txBox="1"/>
          <p:nvPr/>
        </p:nvSpPr>
        <p:spPr>
          <a:xfrm>
            <a:off x="692550" y="1246000"/>
            <a:ext cx="7385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Configure an LLM with proper rationale for parameters chosen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Define a system prompt for question answering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Define the retriever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Answer all the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for all the answers received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67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6" name="Google Shape;336;p67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67"/>
          <p:cNvSpPr/>
          <p:nvPr/>
        </p:nvSpPr>
        <p:spPr>
          <a:xfrm>
            <a:off x="403421" y="261417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67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Evaluating RAG</a:t>
            </a:r>
            <a:endParaRPr b="1" sz="24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p68"/>
          <p:cNvSpPr/>
          <p:nvPr/>
        </p:nvSpPr>
        <p:spPr>
          <a:xfrm>
            <a:off x="403421" y="16629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68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p68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p68"/>
          <p:cNvSpPr txBox="1"/>
          <p:nvPr/>
        </p:nvSpPr>
        <p:spPr>
          <a:xfrm>
            <a:off x="692550" y="1246000"/>
            <a:ext cx="7385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Choose the LLM for evaluation with proper rationale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Define evaluation parameters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Evaluate responses across all 5 test cases provided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for the evaluation output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68"/>
          <p:cNvSpPr/>
          <p:nvPr/>
        </p:nvSpPr>
        <p:spPr>
          <a:xfrm>
            <a:off x="403421" y="198404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9" name="Google Shape;349;p68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Question Answering with Tuned RAG</a:t>
            </a:r>
            <a:endParaRPr b="1" sz="2400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69"/>
          <p:cNvSpPr/>
          <p:nvPr/>
        </p:nvSpPr>
        <p:spPr>
          <a:xfrm>
            <a:off x="403421" y="135393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p69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p69"/>
          <p:cNvSpPr txBox="1"/>
          <p:nvPr/>
        </p:nvSpPr>
        <p:spPr>
          <a:xfrm>
            <a:off x="692550" y="1246000"/>
            <a:ext cx="73857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Choose three configurations using combinations of LLM and Retrieval parameters (chunk size, chunk overlap, number of chunks to retrieve, LLM temperature, LLM top p, LLM max tokens) with proper rationale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Answer all the test cases with each chosen configuration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Evaluate all the responses above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Provide comments/observations for the evaluation output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69"/>
          <p:cNvSpPr/>
          <p:nvPr/>
        </p:nvSpPr>
        <p:spPr>
          <a:xfrm>
            <a:off x="403421" y="2305111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69"/>
          <p:cNvSpPr/>
          <p:nvPr/>
        </p:nvSpPr>
        <p:spPr>
          <a:xfrm>
            <a:off x="403421" y="262614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p69"/>
          <p:cNvSpPr/>
          <p:nvPr/>
        </p:nvSpPr>
        <p:spPr>
          <a:xfrm>
            <a:off x="403421" y="29471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0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70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7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2" name="Google Shape;372;p71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3" name="Google Shape;373;p71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81" name="Google Shape;381;p7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